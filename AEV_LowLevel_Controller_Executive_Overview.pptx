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36576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AUTONOMOUS ELECTRIC VEHICLE (AEV) // DRIVE-BY-WIRE EMBEDDED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Low-Level Embedded Controller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Deterministic 100 Hz Motion Control, Auto-Polarity Calibration &amp; Ground Station Telemetry on STM32H723ZG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4203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22677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CORE CLOCK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</a:defRPr>
            </a:pPr>
            <a:r>
              <a:t>550 MHz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ARM Cortex-M7 with DP-FPU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743200"/>
            <a:ext cx="254203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852928"/>
            <a:ext cx="22677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CONTROL LOOP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</a:defRPr>
            </a:pPr>
            <a:r>
              <a:t>100 Hz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Hardware TIM6 10.0 ms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743200"/>
            <a:ext cx="254203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852928"/>
            <a:ext cx="22677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SAFETY WATCHDOG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</a:defRPr>
            </a:pPr>
            <a:r>
              <a:t>200 ms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Automatic Failsafe Throttle 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743200"/>
            <a:ext cx="254203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852928"/>
            <a:ext cx="226771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</a:defRPr>
            </a:pPr>
            <a:r>
              <a:t>STEERING CONTROL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</a:defRPr>
            </a:pPr>
            <a:r>
              <a:t>EKF-PID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Derivative-on-Measurement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6289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Executive Engineering Scope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 Drive-by-Wire Hardware Abstraction: Seamlessly translates high-level autonomy commands (ROS 2 / NVIDIA Jetson) into physical steering torque, pure analog traction voltage, and electronic braking.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 Fault-Tolerant Calibration: Self-discovers rack travel limits, detects electrical motor polarity mathematically, and eliminates positive-feedback runaway without requiring physical limit switches.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 Multi-Layer Safety Supervisor: Integrates an 8-layer defense-in-depth safety matrix with non-blocking LED diagnostic codes, electronic endstop current clamps, and 50 Hz circular DMA telemetry.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HARDWARE &amp; INTERCONNECT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Drive-by-Wire System Topology &amp; Physical Signal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End-to-end signal pipeline from NVIDIA Jetson autonomy stack down to powertrain and steering actuators.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754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AUTONOMY COMPUTE LAYER (HOST)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NVIDIA Jetson Orin / ROS 2 / Python Ground Station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Transmits 24-byte control frames (MsgID 0x01) at 50 Hz containing gear direction, steering angle target, throttle %, brake mode, and E-Stop over 115200 8N1 serial.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1206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754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LOW-LEVEL CONTROLLER (STM32H723ZG)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Real-Time Embedded Firmware @ 550 MHz Cortex-M7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Deterministic 100 Hz TIM6 scheduler. Runs 2-state recursive EKF, derivative-on-measurement PID, circular DMA UART, 8-layer safety watchdog, and master live monitor struct.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51206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10328"/>
            <a:ext cx="4754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VEHICLE ACTUATORS &amp; PLANT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Traction Motor Controller, Cytron Driver &amp; Rack Potentiometer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Dual 12-bit DACs deliver 0–3.3V analog signals to main traction controller &amp; brake actuator. TIM3 PWM &amp; DIR pin drive Cytron MDD10A H-bridge steering motor.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00200"/>
            <a:ext cx="5376672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5010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Microcontroller Hardware Signal Allocation (NUCLEO-H723ZG)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48840"/>
            <a:ext cx="5010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PA0 (A0)     | STEERING SENSOR    | 16-Bit Circular DMA (0.15–3.15V)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  <a:latin typeface="Consolas"/>
              </a:defRPr>
            </a:pPr>
            <a:r>
              <a:t>PA4 (A2)     | TRACTION THROTTLE  | 12-Bit Analog Voltage (0.0–3.3V)</a:t>
            </a:r>
          </a:p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PA5 (A3)     | ELECTRIC BRAKE     | 12-Bit Analog Voltage (0.0–3.3V)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  <a:latin typeface="Consolas"/>
              </a:defRPr>
            </a:pPr>
            <a:r>
              <a:t>PC6 (D9)     | STEERING PWM SPEED | 550 Hz PWM (0% to 60% Effort Limit)</a:t>
            </a:r>
          </a:p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PD14 (D10)   | STEERING DIR PIN   | Digital Level (0 = Left, 1 = Right)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  <a:latin typeface="Consolas"/>
              </a:defRPr>
            </a:pPr>
            <a:r>
              <a:t>PD8          | AUTONOMY UART RX   | Circular DMA Buffer (Zero CPU Overhead)</a:t>
            </a:r>
          </a:p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PD9          | AUTONOMY UART TX   | DMA Streamed Telemetry @ 50 Hz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  <a:latin typeface="Consolas"/>
              </a:defRPr>
            </a:pPr>
            <a:r>
              <a:t>PB0 (LD1)    | SYSTEM STATUS LED  | Green: 1Hz Heartbeat / 5Hz Calibrating</a:t>
            </a:r>
          </a:p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PE1 (LD2)    | COMM LINK LED      | Yellow: 10Hz Flash on Active Packets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  <a:latin typeface="Consolas"/>
              </a:defRPr>
            </a:pPr>
            <a:r>
              <a:t>PB14 (LD3)   | SYSTEM FAULT LED   | Red: Repeating Diagnostic Blink Codes</a:t>
            </a:r>
          </a:p>
          <a:p>
            <a:pPr>
              <a:spcBef>
                <a:spcPts val="200"/>
              </a:spcBef>
              <a:defRPr sz="800">
                <a:solidFill>
                  <a:srgbClr val="F8FAFC"/>
                </a:solidFill>
                <a:latin typeface="Consolas"/>
              </a:defRPr>
            </a:pPr>
            <a:r>
              <a:t>PC13 (B1)    | RECAL BUTTON       | Blue Pushbutton: Trigger Recalibration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REAL-TIME EXECUTIVE (APPCORE)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Deterministic 100 Hz Supervisory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TIM6 hardware interrupt scheduler guaranteeing hard real-time latency and thread-safe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4203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22677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STATE 0: INIT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Power-On Bootstrapping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Initializes ADC DMA oversampling, DAC hardware channels, PWM timers, circular UART receiver, PID structs, and EKF matrices. Immediately transitions to STATE_CALIBRATING.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00200"/>
            <a:ext cx="254203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09928"/>
            <a:ext cx="22677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STATE 1: CALIBRATING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Self-Discovering Endstops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Steering motor executes authoritative ±45% sweep. Identifies physical endstop voltages, calculates center &amp; scale, and confirms motor polarity. Throttle locked to 0V. Green LED strobes at 5 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4203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09928"/>
            <a:ext cx="22677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STATE 2: ACTIVE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Autonomous Closed-Loop Control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PID steering active with EKF feedback. Open-loop DAC throttle active (0–3.3V) when acceleration &gt; 0%. Watchdog actively supervised within 200ms. Green LED gentle 1 Hz heartbeat.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00200"/>
            <a:ext cx="254203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09928"/>
            <a:ext cx="22677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STATE 3: FAULT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</a:defRPr>
            </a:pPr>
            <a:r>
              <a:t>Critical Safety Interlock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Asserts immediate failsafe: Throttle DAC = 0.0V, Steering PWM = 0%, Full Emergency Brake = 3.3V. Red LED blinks diagnostic error code. Recalibration request required to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621792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799"/>
            <a:ext cx="5852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100 Hz Execution Sequence Inside TIM6 ISR (App_Step_100Hz)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1. Deferred Recalibration Check: Thread-safe reset triggered from Blue Button EXTI / Debugger.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2. Circular DMA UART Ingestion: Parses incoming bytes, verifies CRC-16, feeds 200ms watchdog.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3. 16-Bit ADC Block Update: Reads 64-sample DMA buffer, computes EMA filtered potentiometer voltage.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4. State Machine Branching: Executes calibration state or closed-loop EKF-PID steering &amp; DAC drive.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5. End-Stop Soft Limit Clamps: Checks ±40mV boundary buffer and zeroes pushing effort if near limits.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6. Master Live Monitor Refresh: Synchronously updates 'aev_live' struct for STM32CubeIDE.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7. 50 Hz Telemetry Dispatch: Binary transmits 26-byte status packet (MsgID 0x81) every 20ms.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977639"/>
            <a:ext cx="4327855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114799"/>
            <a:ext cx="39620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Deterministic Watchdog Rules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Serial Timeout (&gt;=200ms): Immediate throttle cut to 0.0V, safe partial brake (1.65V), relaxes steering motor.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Hardware E-Stop (estop != 0): Latches emergency brake (3.3V) and cuts motor drive within &lt;= 10 ms.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Sensor Bounds Check: Trip fault if pot voltage &lt; 0.15V or &gt; 3.15V (detects open ground or short to VCC).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Safe Idle Relax: Motor effort is zeroed whenever communication is offline, preventing static stall drain.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MOTION CONTROL //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Self-Discovering Steering Calibration &amp; Polarity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Authoritative ±45% torque sweep with windowed stall detection and automatic mathematical polarity inversion.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94360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o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585216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600200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91640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1. Windowed Stall Detection (500ms Stillness)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45% Sweep Effort: High torque ensures complete rack sweep through tire friction.</a:t>
            </a:r>
            <a:br/>
            <a:r>
              <a:t>• 600ms Startup Grace Period: Motor static inertia is ignored during initial acceleration.</a:t>
            </a:r>
            <a:br/>
            <a:r>
              <a:t>• 100ms Sliding Window Filter: ΔV &gt; 5mV confirms active movement; stillness for 500ms confirms physical mechanical end-stop.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18688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310128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2. Auto-Polarity Detection (Eliminating Runaway)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Hardware Variance: Wiring or gear linkages can make +effort decrease or increase voltage.</a:t>
            </a:r>
            <a:br/>
            <a:r>
              <a:t>• Automatic Computation: polarity_sign = (limit_1 &gt; limit_2) ? +1 : -1.</a:t>
            </a:r>
            <a:br/>
            <a:r>
              <a:t>• Runtime Auto-Inversion: Runtime PID automatically multiplies effort by polarity_sign, guaranteeing negative feedback and eliminating violent endstop slamming.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37176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4928616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3. End-Stop Soft Limits &amp; Stall Protection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Problem: DC motors pinned against hardstops draw locked-rotor stall currents (15A–30A+).</a:t>
            </a:r>
            <a:br/>
            <a:r>
              <a:t>• Electronic Buffer: If rack is within 40mV of either stop, pushing effort is clamped to 0.0f.</a:t>
            </a:r>
            <a:br/>
            <a:r>
              <a:t>• Safe Centering: Proportional snap smoothly centers wheels to 0.970V within 30mV.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STATE ESTIMATION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Recursive Extended Kalman Filter &amp; Velocity-Damped PID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Dual-state estimator eliminates finite-difference noise while feedforward open-loop DAC drives 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94360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ot_ek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585216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600200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91640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1. Why Finite Difference Fails at 100 Hz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Noise Amplification: Computing derivative as ΔV/Δt at 100 Hz multiplies electrical switching noise by 100x, causing severe D-term jitter and motor overheating.</a:t>
            </a:r>
            <a:br/>
            <a:r>
              <a:t>• EKF Model Prediction: Combines physical motor effort model with 16-bit ADC measurements to produce zero-lag velocity estimates.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18688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310128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2. Derivative-on-Measurement PID Formulation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Control Law: u(t) = Kp · e(t) + Ki ∫ e(t) dt - Kd · x̂₁_EKF(t).</a:t>
            </a:r>
            <a:br/>
            <a:r>
              <a:t>• Anti-Derivative Kick: D-term is damped strictly by measured vehicle velocity rather than error derivative, allowing instant setpoint jumps without current spikes.</a:t>
            </a:r>
            <a:br/>
            <a:r>
              <a:t>• Anti-Windup Clamping: Integrator is bounded to ±0.25 to prevent overshoot.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37176"/>
            <a:ext cx="460217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4928616"/>
            <a:ext cx="4327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3. Open-Loop Traction Drive (No Acceleration PID)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• Direct Feedforward: Electric vehicle motor controllers operate in internal torque/speed loops. Throttle maps linearly: V_dac = (acceleration / 100) × 3.3V.</a:t>
            </a:r>
            <a:br/>
            <a:r>
              <a:t>• Auto-Forward Default: Automatically engages forward drive when acceleration &gt; 0% to streamline bench testing and avoid neutral lockouts.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SAFETY &amp; INTEGRITY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8-Layer Hardware Failsafe &amp; Defense-in-Depth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Multi-tier protection guaranteeing zero uncontrolled acceleration, mechanical over-travel, or thermal overload.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Layer 1: Power-On Safe State  [0 ms (Boot)]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Boot / Reset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All DAC outputs held at 0.0V, PWM compare register 0, DIR pin 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Layer 2: Communication Watchdog  [&lt;= 200 ms]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Link Timeout &gt; 200ms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Immediate throttle cut to 0.0V, safe partial brake (1.65V), relax steering motor.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22776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Layer 3: Autonomous E-Stop  [&lt;= 10 ms]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Payload estop != 0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Full mechanical brake (3.3V) applied, throttle cut, safe latched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84064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57216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Layer 4: Sensor Bounds Supervisor  [&lt;= 10 ms]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Pot V &lt; 0.15V or &gt; 3.15V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Detects ground disconnect or power short; zeroes throttle &amp; reports fault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673352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Layer 5: Endstop Current Clamping  [&lt;= 10 ms]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Rack within 40mV of stops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Clamps pushing effort to 0.0f; prevents high locked-rotor stall current (15A–30A).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761488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2834640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Layer 6: Direction Polarity Protection  [Calibration]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Inverted pot or motor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Auto-polarity sign detection mathematically guarantees negative feedback loop.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922776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3995928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</a:defRPr>
            </a:pPr>
            <a:r>
              <a:t>Layer 7: Actuator Saturation Clamp  [Instant]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High step angle error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Output effort clamped to safe max ±60%; integrator clamped to prevent windup.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5084064"/>
            <a:ext cx="5266944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5157216"/>
            <a:ext cx="49926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Layer 8: Calibration Sweep Timeout  [10.0 s]</a:t>
            </a:r>
          </a:p>
          <a:p>
            <a:pPr>
              <a:spcBef>
                <a:spcPts val="200"/>
              </a:spcBef>
              <a:defRPr sz="850" b="1">
                <a:solidFill>
                  <a:srgbClr val="F8FAFC"/>
                </a:solidFill>
              </a:defRPr>
            </a:pPr>
            <a:r>
              <a:t>Trigger: Motor stalled &gt; 10.0s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</a:defRPr>
            </a:pPr>
            <a:r>
              <a:t>Action: Enters STATE_FAULT, cuts motor PWM to protect windings and driver FETs.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9788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Visual LED Diagnostics:  🟢 PB0: 1Hz Heartbeat / 5Hz Calibrating  |  🟡 PE1: 10Hz Flash on Active Packets  |  🔴 PB14: Error Blink Codes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GROUND STATION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Python Ground Station GUI &amp; Binary Protocol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50 Hz bidirectional telemetry dashboard with zero-CPU circular DMA reception.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Strict Binary Framing (CRC-16-CCITT)</a:t>
            </a:r>
          </a:p>
          <a:p>
            <a:pPr>
              <a:defRPr sz="750">
                <a:solidFill>
                  <a:srgbClr val="F8FAFC"/>
                </a:solidFill>
                <a:latin typeface="Consolas"/>
              </a:defRPr>
            </a:pPr>
            <a:r>
              <a:t>Binary Frame Layout: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+-----------+--------+--------+--------+-------------+---------+-----------+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| SOF (2B)  | MSG_ID | SEQ    | LEN    | PAYLOAD (N) | CRC-16  | EOF (2B)  |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| 0xAA 0x55 | 1 Byte | 1 Byte | 1 Byte | Little-End  | 2 Bytes | 0x55 0xAA |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+-----------+--------+--------+--------+-------------+---------+-----------+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750">
                <a:solidFill>
                  <a:srgbClr val="F8FAFC"/>
                </a:solidFill>
                <a:latin typeface="Consolas"/>
              </a:defRPr>
            </a:pPr>
            <a:r>
              <a:t>Command Payload (MsgID 0x01, 16 Bytes, Jetson -&gt; STM32):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drive_direction (uint8): 0 = Neutral, 1 = Forward, 2 = Reverse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steer_direction (int8):  -1 = Left, 0 = Center, +1 = Right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steer_angle (float32):   Target steering angle in degrees (-30° to +30°)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acceleration (float32):  Traction throttle percentage (0.0 to 100.0%)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brake (uint8):           0 = Off, 1 = Partial Braking, 2 = Emergency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estop (uint8):           0 = Normal Operation, 1 = Immediate E-Stop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timestamp_ms (uint32):   Host millisecond synchronization timestamp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750">
                <a:solidFill>
                  <a:srgbClr val="F8FAFC"/>
                </a:solidFill>
                <a:latin typeface="Consolas"/>
              </a:defRPr>
            </a:pPr>
            <a:r>
              <a:t>Telemetry Payload (MsgID 0x81, 26 Bytes, STM32 -&gt; Jetson @ 50 Hz):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system_state (uint8):    0=INIT, 1=CALIB, 2=ACTIVE, 3=FAULT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actual_steer_angle (f32): EKF-estimated steering angle in degrees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steering_pot_v (float32): Raw potentiometer sensor voltage (0–3.3V)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applied_steer_effort (f32): Cytron PWM effort command (-1.0 to +1.0)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applied_throttle_v (f32): DAC1 CH1 output voltage (PA4)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applied_brake_v (f32):    DAC1 CH2 output voltage (PA5)</a:t>
            </a:r>
          </a:p>
          <a:p>
            <a:pPr>
              <a:defRPr sz="750">
                <a:solidFill>
                  <a:srgbClr val="94A3B8"/>
                </a:solidFill>
                <a:latin typeface="Consolas"/>
              </a:defRPr>
            </a:pPr>
            <a:r>
              <a:t>• link_alive (uint8):      1 = Watchdog active, 0 = Link timed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5376672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010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Python Diagnostic Ground Station (aev_diagnostic_gui.py)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Side-by-Side Dual Deck Layout: Combines full transmission control and real-time telemetry meters in an intuitive dark-themed workstation.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Auto-Forward Transmission: Defaults to Forward gear on startup. Sliding throttle automatically selects Forward gear, preventing accidental neutral lockouts.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50 Hz Watchdog Streaming: One-click 'Start 50 Hz Streaming' loop satisfies the STM32's 200ms watchdog with real-time heartbeat synchronization.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Big Red Reactor E-STOP: Prominent emergency stop button instantly broadcasts emergency brake and zeroes throttle output.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Live Packet Hex Console: Color-coded inspection terminal showing sent commands (TX in blue), incoming telemetry (RX in cyan), and system events.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Interactive Protocol Visualizer: Second tab with embedded architectural documentation, byte maps, and diagnostic troubleshooting.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// 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Real-World Hardware Verification &amp; STM32 Live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Empirical validation on vehicle chassis, STM32CubeIDE live expressions, and GitHub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154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Vehicle Bench Calibration Results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is_calibrated: true</a:t>
            </a:r>
            <a:br/>
            <a:r>
              <a:t>  (Routine completed successfully)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left_limit_volts: 0.35478 V</a:t>
            </a:r>
            <a:br/>
            <a:r>
              <a:t>  (Left physical end-stop)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right_limit_volts: 1.58600 V</a:t>
            </a:r>
            <a:br/>
            <a:r>
              <a:t>  (Right physical end-stop)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center_volts: 0.97039 V</a:t>
            </a:r>
            <a:br/>
            <a:r>
              <a:t>  (Exact calculated midpoint)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degrees_per_volt: 48.732 deg/V</a:t>
            </a:r>
            <a:br/>
            <a:r>
              <a:t>  (Scaling: 60.0° / 1.231V span)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polarity_sign: -1</a:t>
            </a:r>
            <a:br/>
            <a:r>
              <a:t>  (Auto-inverted to prevent runaway)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settling_error: &lt; 0.030 V</a:t>
            </a:r>
            <a:br/>
            <a:r>
              <a:t>  (Within 30mV centering deadband)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00200"/>
            <a:ext cx="342900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737360"/>
            <a:ext cx="3154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Unified Live Expressions (aev_live)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aev_live.command:</a:t>
            </a:r>
            <a:br/>
            <a:r>
              <a:t>  Real-time host commands: drive_direction, steer_angle, acceleration, brake, estop, timestamp_ms.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aev_live.steering:</a:t>
            </a:r>
            <a:br/>
            <a:r>
              <a:t>  Closed-loop feedback: target_angle_deg, actual_angle_deg, angle_error_deg, pot_volts, motor_effort, dir_pin, pwm_duty_pct.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aev_live.drivetrain:</a:t>
            </a:r>
            <a:br/>
            <a:r>
              <a:t>  Hardware DAC registers: throttle_pct, throttle_volts, throttle_dac_raw, brake_volts, brake_dac_raw.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aev_live.calibration:</a:t>
            </a:r>
            <a:br/>
            <a:r>
              <a:t>  Physical endstop map: is_calibrated, center_volts, left_limit_volts, right_limit_volts.</a:t>
            </a:r>
          </a:p>
          <a:p>
            <a:pPr>
              <a:spcBef>
                <a:spcPts val="300"/>
              </a:spcBef>
              <a:defRPr sz="800">
                <a:solidFill>
                  <a:srgbClr val="F8FAFC"/>
                </a:solidFill>
              </a:defRPr>
            </a:pPr>
            <a:r>
              <a:t>• aev_live.safety:</a:t>
            </a:r>
            <a:br/>
            <a:r>
              <a:t>  Diagnostics: system_state, link_alive, watchdog_left_ms, active_error_code, uptime_seconds.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00200"/>
            <a:ext cx="3429000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737360"/>
            <a:ext cx="3154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Deployment &amp; Repository Access</a:t>
            </a:r>
          </a:p>
          <a:p>
            <a:pPr>
              <a:spcBef>
                <a:spcPts val="400"/>
              </a:spcBef>
              <a:defRPr sz="800">
                <a:solidFill>
                  <a:srgbClr val="F8FAFC"/>
                </a:solidFill>
              </a:defRPr>
            </a:pPr>
            <a:r>
              <a:t>• GitHub Repository:</a:t>
            </a:r>
            <a:br/>
            <a:r>
              <a:t>  https://github.com/maheshnatham/</a:t>
            </a:r>
            <a:br/>
            <a:r>
              <a:t>AEV_LowLevel_Controller</a:t>
            </a:r>
          </a:p>
          <a:p>
            <a:pPr>
              <a:spcBef>
                <a:spcPts val="400"/>
              </a:spcBef>
              <a:defRPr sz="800">
                <a:solidFill>
                  <a:srgbClr val="F8FAFC"/>
                </a:solidFill>
              </a:defRPr>
            </a:pPr>
            <a:r>
              <a:t>• Firmware Binary:</a:t>
            </a:r>
            <a:br/>
            <a:r>
              <a:t>  Debug/AEV_LowLevel_ControllerV1.elf</a:t>
            </a:r>
            <a:br/>
            <a:r>
              <a:t>Compiled with 0 errors, 0 warnings.</a:t>
            </a:r>
          </a:p>
          <a:p>
            <a:pPr>
              <a:spcBef>
                <a:spcPts val="400"/>
              </a:spcBef>
              <a:defRPr sz="800">
                <a:solidFill>
                  <a:srgbClr val="F8FAFC"/>
                </a:solidFill>
              </a:defRPr>
            </a:pPr>
            <a:r>
              <a:t>• Ground Station GUI:</a:t>
            </a:r>
            <a:br/>
            <a:r>
              <a:t>  python App/Testing/aev_diagnostic_gui.py</a:t>
            </a:r>
          </a:p>
          <a:p>
            <a:pPr>
              <a:spcBef>
                <a:spcPts val="400"/>
              </a:spcBef>
              <a:defRPr sz="800">
                <a:solidFill>
                  <a:srgbClr val="F8FAFC"/>
                </a:solidFill>
              </a:defRPr>
            </a:pPr>
            <a:r>
              <a:t>• 1-Click GitHub Push:</a:t>
            </a:r>
            <a:br/>
            <a:r>
              <a:t>  .\push_to_github.bat</a:t>
            </a:r>
            <a:br/>
            <a:r>
              <a:t>Cached Windows credentials enabled.</a:t>
            </a:r>
          </a:p>
          <a:p>
            <a:pPr>
              <a:spcBef>
                <a:spcPts val="400"/>
              </a:spcBef>
              <a:defRPr sz="800">
                <a:solidFill>
                  <a:srgbClr val="F8FAFC"/>
                </a:solidFill>
              </a:defRPr>
            </a:pPr>
            <a:r>
              <a:t>• Onboard Blue Button:</a:t>
            </a:r>
            <a:br/>
            <a:r>
              <a:t>  PC13 EXTI triggers thread-safe recalibration on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