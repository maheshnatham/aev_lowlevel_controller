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5855" cy="11704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1. SYSTEM ARCHITECTURE FLOWCHART — STM32H723ZG (550 MHZ)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End-to-End Drive-by-Wire Signal Flow &amp; Plain-English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286000"/>
            <a:ext cx="1965960" cy="2011680"/>
          </a:xfrm>
          <a:prstGeom prst="rect">
            <a:avLst/>
          </a:prstGeom>
          <a:solidFill>
            <a:srgbClr val="FFFDE7"/>
          </a:solidFill>
          <a:ln w="15240">
            <a:solidFill>
              <a:srgbClr val="D6C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2331720"/>
            <a:ext cx="1819656" cy="2560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Inter Display"/>
              </a:rPr>
              <a:t>High-Level Compute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5072" y="1591056"/>
            <a:ext cx="4480560" cy="4535424"/>
          </a:xfrm>
          <a:prstGeom prst="rect">
            <a:avLst/>
          </a:prstGeom>
          <a:solidFill>
            <a:srgbClr val="FFFDE7"/>
          </a:solidFill>
          <a:ln w="15240">
            <a:solidFill>
              <a:srgbClr val="D6C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78224" y="1636776"/>
            <a:ext cx="4334256" cy="2560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Inter Display"/>
              </a:rPr>
              <a:t>STM32H723ZG Controller (100 Hz Loop)</a:t>
            </a:r>
          </a:p>
        </p:txBody>
      </p:sp>
      <p:sp>
        <p:nvSpPr>
          <p:cNvPr id="8" name="Rectangle 7"/>
          <p:cNvSpPr/>
          <p:nvPr/>
        </p:nvSpPr>
        <p:spPr>
          <a:xfrm>
            <a:off x="9948672" y="1591056"/>
            <a:ext cx="1737360" cy="4535424"/>
          </a:xfrm>
          <a:prstGeom prst="rect">
            <a:avLst/>
          </a:prstGeom>
          <a:solidFill>
            <a:srgbClr val="FFFDE7"/>
          </a:solidFill>
          <a:ln w="15240">
            <a:solidFill>
              <a:srgbClr val="D6C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21824" y="1636776"/>
            <a:ext cx="1591056" cy="2560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Inter Display"/>
              </a:rPr>
              <a:t>Vehicle Plant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743200"/>
          <a:ext cx="16916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</a:tblGrid>
              <a:tr h="13716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Inter Display"/>
                        </a:rPr>
                        <a:t>NVIDIA Jetson /
Host PC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(ROS 2 / Autoware /
Python GUI)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591056"/>
          <a:ext cx="3337560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</a:tblGrid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284C7"/>
                          </a:solidFill>
                          <a:latin typeface="Inter Display"/>
                        </a:rPr>
                        <a:t>Plain English — The AI Brain: </a:t>
                      </a:r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Decides path &amp; speed; sends 16B command (0x01) &amp; receives 26B status (0x81) at 50 Hz.</a:t>
                      </a:r>
                    </a:p>
                  </a:txBody>
                  <a:tcPr anchor="ctr" marL="73152" marR="73152" marT="27432" marB="27432">
                    <a:solidFill>
                      <a:srgbClr val="E0F2FE"/>
                    </a:solidFill>
                    <a:lnL w="12700" cap="flat" cmpd="sng" algn="ctr">
                      <a:solidFill>
                        <a:srgbClr val="38BDF8"/>
                      </a:solidFill>
                      <a:prstDash val="soli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4407408"/>
          <a:ext cx="3337560" cy="1719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</a:tblGrid>
              <a:tr h="1719072">
                <a:tc>
                  <a:txBody>
                    <a:bodyPr wrap="square"/>
                    <a:lstStyle/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Inter Display"/>
                        </a:rPr>
                        <a:t>Binary Frame Envelope (protocol.c):</a:t>
                      </a:r>
                    </a:p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Inter"/>
                        </a:rPr>
                        <a:t>SOF: </a:t>
                      </a:r>
                      <a:r>
                        <a:rPr sz="1000" b="0">
                          <a:solidFill>
                            <a:srgbClr val="334155"/>
                          </a:solidFill>
                          <a:latin typeface="Inter"/>
                        </a:rPr>
                        <a:t>0xAA 0x55  |  </a:t>
                      </a:r>
                      <a:r>
                        <a:rPr sz="1000" b="1">
                          <a:solidFill>
                            <a:srgbClr val="0F172A"/>
                          </a:solidFill>
                          <a:latin typeface="Inter"/>
                        </a:rPr>
                        <a:t>CRC-16-CCITT: </a:t>
                      </a:r>
                      <a:r>
                        <a:rPr sz="1000" b="0">
                          <a:solidFill>
                            <a:srgbClr val="334155"/>
                          </a:solidFill>
                          <a:latin typeface="Inter"/>
                        </a:rPr>
                        <a:t>0x1021 (Init 0xFFFF)</a:t>
                      </a:r>
                    </a:p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1000" b="1">
                          <a:solidFill>
                            <a:srgbClr val="0284C7"/>
                          </a:solidFill>
                          <a:latin typeface="Inter"/>
                        </a:rPr>
                        <a:t>CMD (0x01, 16B): </a:t>
                      </a:r>
                      <a:r>
                        <a:rPr sz="1000" b="0">
                          <a:solidFill>
                            <a:srgbClr val="334155"/>
                          </a:solidFill>
                          <a:latin typeface="Inter"/>
                        </a:rPr>
                        <a:t>dir, steer_angle (±30°), accel (0-100%), brake, estop.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47857"/>
                          </a:solidFill>
                          <a:latin typeface="Inter"/>
                        </a:rPr>
                        <a:t>TLM (0x81, 26B @ 50Hz): </a:t>
                      </a:r>
                      <a:r>
                        <a:rPr sz="1000" b="0">
                          <a:solidFill>
                            <a:srgbClr val="334155"/>
                          </a:solidFill>
                          <a:latin typeface="Inter"/>
                        </a:rPr>
                        <a:t>state, actual_angle, pot_v, effort, DAC_v, link.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  <a:lnL w="12700" cap="flat" cmpd="sng" algn="ctr">
                      <a:solidFill>
                        <a:srgbClr val="94A3B8"/>
                      </a:solidFill>
                      <a:prstDash val="soli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60520" y="2743200"/>
          <a:ext cx="120700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008"/>
              </a:tblGrid>
              <a:tr h="13716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150" b="1">
                          <a:solidFill>
                            <a:srgbClr val="0F172A"/>
                          </a:solidFill>
                          <a:latin typeface="Inter Display"/>
                        </a:rPr>
                        <a:t>Circular DMA
UART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334155"/>
                          </a:solidFill>
                          <a:latin typeface="Inter"/>
                        </a:rPr>
                        <a:t>(CRC-16 +
200ms WDG)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559552" y="2788920"/>
          <a:ext cx="1170432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2"/>
              </a:tblGrid>
              <a:tr h="12801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150" b="1">
                          <a:solidFill>
                            <a:srgbClr val="0F172A"/>
                          </a:solidFill>
                          <a:latin typeface="Inter Display"/>
                        </a:rPr>
                        <a:t>State
Executive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(INIT / CALIB /
ACTIVE / FAULT)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160520" y="4315968"/>
          <a:ext cx="2569464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9464"/>
              </a:tblGrid>
              <a:tr h="1664208">
                <a:tc>
                  <a:txBody>
                    <a:bodyPr wrap="square"/>
                    <a:lstStyle/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47857"/>
                          </a:solidFill>
                          <a:latin typeface="Inter Display"/>
                        </a:rPr>
                        <a:t>Plain English — 100 Hz Reflex Center:</a:t>
                      </a:r>
                    </a:p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Inter"/>
                        </a:rPr>
                        <a:t>• Zero-CPU RX: </a:t>
                      </a: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DMA1_Stream1 reads bytes in background.</a:t>
                      </a:r>
                    </a:p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Inter"/>
                        </a:rPr>
                        <a:t>• 200ms Watchdog: </a:t>
                      </a: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Auto-cuts throttle &amp; applies 1.65V brake if link drops.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Inter"/>
                        </a:rPr>
                        <a:t>• TIM6 10ms Tick: </a:t>
                      </a: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Orchestrates all 8 App/ libraries deterministically.</a:t>
                      </a:r>
                    </a:p>
                  </a:txBody>
                  <a:tcPr anchor="ctr" marL="64008" marR="64008" marT="27432" marB="27432">
                    <a:solidFill>
                      <a:srgbClr val="D1FAE5"/>
                    </a:solidFill>
                    <a:lnL w="12700" cap="flat" cmpd="sng" algn="ctr">
                      <a:solidFill>
                        <a:srgbClr val="34D399"/>
                      </a:solidFill>
                      <a:prstDash val="solid"/>
                    </a:lnL>
                    <a:lnR w="12700" cap="flat" cmpd="sng" algn="ctr">
                      <a:solidFill>
                        <a:srgbClr val="34D399"/>
                      </a:solidFill>
                      <a:prstDash val="solid"/>
                    </a:lnR>
                    <a:lnT w="12700" cap="flat" cmpd="sng" algn="ctr">
                      <a:solidFill>
                        <a:srgbClr val="34D399"/>
                      </a:solidFill>
                      <a:prstDash val="solid"/>
                    </a:lnT>
                    <a:lnB w="12700" cap="flat" cmpd="sng" algn="ctr">
                      <a:solidFill>
                        <a:srgbClr val="34D39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912864" y="2139696"/>
          <a:ext cx="1426464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464"/>
              </a:tblGrid>
              <a:tr h="896112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Inter Display"/>
                        </a:rPr>
                        <a:t>Extended Kalman
Filter (EKF)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(Pos &amp; Velocity)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912864" y="3200400"/>
          <a:ext cx="1426464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464"/>
              </a:tblGrid>
              <a:tr h="896112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Inter Display"/>
                        </a:rPr>
                        <a:t>Steering PID
Controller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(D-on-Measurement)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912864" y="4261104"/>
          <a:ext cx="1426464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464"/>
              </a:tblGrid>
              <a:tr h="8412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Inter Display"/>
                        </a:rPr>
                        <a:t>Drivetrain
Feedforward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(DAC1 Thr &amp; Brk)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912864" y="5230368"/>
          <a:ext cx="1426464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464"/>
              </a:tblGrid>
              <a:tr h="76809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Inter Display"/>
                        </a:rPr>
                        <a:t>aev_live Watch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(100Hz CubeIDE)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0076688" y="2139696"/>
          <a:ext cx="148132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</a:tblGrid>
              <a:tr h="7315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Inter Display"/>
                        </a:rPr>
                        <a:t>Steering Rack
Potentiometer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0284C7"/>
                          </a:solidFill>
                          <a:latin typeface="Inter"/>
                        </a:rPr>
                        <a:t>(Feedback Eye)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0076688" y="3218688"/>
          <a:ext cx="1481328" cy="804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</a:tblGrid>
              <a:tr h="804672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Inter Display"/>
                        </a:rPr>
                        <a:t>Cytron MDD10A
Steering Motor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047857"/>
                          </a:solidFill>
                          <a:latin typeface="Inter"/>
                        </a:rPr>
                        <a:t>(±60% Cap)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0076688" y="4187952"/>
          <a:ext cx="1481328" cy="749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</a:tblGrid>
              <a:tr h="74980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Inter Display"/>
                        </a:rPr>
                        <a:t>Main Traction
Motor Ctrl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B45309"/>
                          </a:solidFill>
                          <a:latin typeface="Inter"/>
                        </a:rPr>
                        <a:t>(Pure Analog)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0076688" y="5138928"/>
          <a:ext cx="1481328" cy="78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</a:tblGrid>
              <a:tr h="786384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Inter Display"/>
                        </a:rPr>
                        <a:t>Brake Actuator
/ Relay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B91C1C"/>
                          </a:solidFill>
                          <a:latin typeface="Inter"/>
                        </a:rPr>
                        <a:t>(1.65V / 3.3V)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78608" y="3127248"/>
          <a:ext cx="1298448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48"/>
              </a:tblGrid>
              <a:tr h="603504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Inter Display"/>
                        </a:rPr>
                        <a:t>Framed UART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115200 8N1 (PD8/9)</a:t>
                      </a:r>
                    </a:p>
                  </a:txBody>
                  <a:tcPr anchor="ctr" marL="54864" marR="54864" marT="27432" marB="27432">
                    <a:solidFill>
                      <a:srgbClr val="E5E7EB"/>
                    </a:solidFill>
                    <a:lnL w="12700" cap="flat" cmpd="sng" algn="ctr">
                      <a:solidFill>
                        <a:srgbClr val="CBD5E1"/>
                      </a:solidFill>
                      <a:prstDash val="soli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2331720" y="3416198"/>
            <a:ext cx="246888" cy="25603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ft Arrow 25"/>
          <p:cNvSpPr/>
          <p:nvPr/>
        </p:nvSpPr>
        <p:spPr>
          <a:xfrm>
            <a:off x="2350008" y="3374136"/>
            <a:ext cx="109728" cy="109728"/>
          </a:xfrm>
          <a:prstGeom prst="lef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77056" y="3416198"/>
            <a:ext cx="283463" cy="25603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4032504" y="3374136"/>
            <a:ext cx="109728" cy="109728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67528" y="3418941"/>
            <a:ext cx="192023" cy="20116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5449824" y="3383280"/>
            <a:ext cx="91440" cy="9144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16037" y="3035808"/>
            <a:ext cx="20116" cy="16459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own Arrow 31"/>
          <p:cNvSpPr/>
          <p:nvPr/>
        </p:nvSpPr>
        <p:spPr>
          <a:xfrm>
            <a:off x="7584948" y="3104388"/>
            <a:ext cx="82296" cy="82296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29984" y="3418941"/>
            <a:ext cx="82295" cy="20116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02221" y="2587752"/>
            <a:ext cx="20116" cy="3026663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12280" y="2577693"/>
            <a:ext cx="100583" cy="20116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6825996" y="2546604"/>
            <a:ext cx="82296" cy="82296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12280" y="4671669"/>
            <a:ext cx="100583" cy="20116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6825996" y="4640580"/>
            <a:ext cx="82296" cy="82296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12280" y="5604357"/>
            <a:ext cx="100583" cy="20116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ight Arrow 39"/>
          <p:cNvSpPr/>
          <p:nvPr/>
        </p:nvSpPr>
        <p:spPr>
          <a:xfrm>
            <a:off x="6825996" y="5573268"/>
            <a:ext cx="82296" cy="82296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8595360" y="2240280"/>
          <a:ext cx="1225296" cy="493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</a:tblGrid>
              <a:tr h="49377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Inter Display"/>
                        </a:rPr>
                        <a:t>ADC1 IN15 (PA0)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0.15–3.15V Pot</a:t>
                      </a:r>
                    </a:p>
                  </a:txBody>
                  <a:tcPr anchor="ctr" marL="54864" marR="54864" marT="27432" marB="27432">
                    <a:solidFill>
                      <a:srgbClr val="E5E7EB"/>
                    </a:solidFill>
                    <a:lnL w="12700" cap="flat" cmpd="sng" algn="ctr">
                      <a:solidFill>
                        <a:srgbClr val="CBD5E1"/>
                      </a:solidFill>
                      <a:prstDash val="soli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8339327" y="2477109"/>
            <a:ext cx="256032" cy="20116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Left Arrow 42"/>
          <p:cNvSpPr/>
          <p:nvPr/>
        </p:nvSpPr>
        <p:spPr>
          <a:xfrm>
            <a:off x="8353044" y="2436876"/>
            <a:ext cx="100584" cy="100584"/>
          </a:xfrm>
          <a:prstGeom prst="lef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820656" y="2477109"/>
            <a:ext cx="256031" cy="20116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8595360" y="3319272"/>
          <a:ext cx="1225296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</a:tblGrid>
              <a:tr h="58521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Inter Display"/>
                        </a:rPr>
                        <a:t>TIM3 PWM (PC6)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+ DIR (PD14) 550Hz</a:t>
                      </a:r>
                    </a:p>
                  </a:txBody>
                  <a:tcPr anchor="ctr" marL="54864" marR="54864" marT="27432" marB="27432">
                    <a:solidFill>
                      <a:srgbClr val="E5E7EB"/>
                    </a:solidFill>
                    <a:lnL w="12700" cap="flat" cmpd="sng" algn="ctr">
                      <a:solidFill>
                        <a:srgbClr val="CBD5E1"/>
                      </a:solidFill>
                      <a:prstDash val="soli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6" name="Rectangle 45"/>
          <p:cNvSpPr/>
          <p:nvPr/>
        </p:nvSpPr>
        <p:spPr>
          <a:xfrm>
            <a:off x="8339327" y="3601821"/>
            <a:ext cx="256032" cy="20116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0656" y="3601821"/>
            <a:ext cx="256031" cy="20116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Arrow 47"/>
          <p:cNvSpPr/>
          <p:nvPr/>
        </p:nvSpPr>
        <p:spPr>
          <a:xfrm>
            <a:off x="9953244" y="3561588"/>
            <a:ext cx="100584" cy="100584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8595360" y="4279392"/>
          <a:ext cx="1225296" cy="493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</a:tblGrid>
              <a:tr h="49377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Inter Display"/>
                        </a:rPr>
                        <a:t>DAC1 CH1 (PA4)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0.0–3.3V Analog</a:t>
                      </a:r>
                    </a:p>
                  </a:txBody>
                  <a:tcPr anchor="ctr" marL="54864" marR="54864" marT="27432" marB="27432">
                    <a:solidFill>
                      <a:srgbClr val="E5E7EB"/>
                    </a:solidFill>
                    <a:lnL w="12700" cap="flat" cmpd="sng" algn="ctr">
                      <a:solidFill>
                        <a:srgbClr val="CBD5E1"/>
                      </a:solidFill>
                      <a:prstDash val="soli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0" name="Rectangle 49"/>
          <p:cNvSpPr/>
          <p:nvPr/>
        </p:nvSpPr>
        <p:spPr>
          <a:xfrm>
            <a:off x="8339327" y="4516221"/>
            <a:ext cx="256032" cy="20116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820656" y="4516221"/>
            <a:ext cx="256031" cy="20116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ight Arrow 51"/>
          <p:cNvSpPr/>
          <p:nvPr/>
        </p:nvSpPr>
        <p:spPr>
          <a:xfrm>
            <a:off x="9953244" y="4475988"/>
            <a:ext cx="100584" cy="100584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8595360" y="5285232"/>
          <a:ext cx="1225296" cy="493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</a:tblGrid>
              <a:tr h="49377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00" b="1">
                          <a:solidFill>
                            <a:srgbClr val="0F172A"/>
                          </a:solidFill>
                          <a:latin typeface="Inter Display"/>
                        </a:rPr>
                        <a:t>DAC1 CH2 (PA5)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0.0–3.3V Analog</a:t>
                      </a:r>
                    </a:p>
                  </a:txBody>
                  <a:tcPr anchor="ctr" marL="54864" marR="54864" marT="27432" marB="27432">
                    <a:solidFill>
                      <a:srgbClr val="E5E7EB"/>
                    </a:solidFill>
                    <a:lnL w="12700" cap="flat" cmpd="sng" algn="ctr">
                      <a:solidFill>
                        <a:srgbClr val="CBD5E1"/>
                      </a:solidFill>
                      <a:prstDash val="soli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4" name="Rectangle 53"/>
          <p:cNvSpPr/>
          <p:nvPr/>
        </p:nvSpPr>
        <p:spPr>
          <a:xfrm>
            <a:off x="8339327" y="4854549"/>
            <a:ext cx="128016" cy="20116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457285" y="4864608"/>
            <a:ext cx="20116" cy="667511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67344" y="5522061"/>
            <a:ext cx="128016" cy="20116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820656" y="5522061"/>
            <a:ext cx="256031" cy="20116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ight Arrow 57"/>
          <p:cNvSpPr/>
          <p:nvPr/>
        </p:nvSpPr>
        <p:spPr>
          <a:xfrm>
            <a:off x="9953244" y="5481828"/>
            <a:ext cx="100584" cy="100584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5855" cy="11704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2. MOTION CONTROL &amp; SENSOR FUSION — APP/MOTIONCONTROL &amp; APP/SENSORS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How the Car Teaches Itself Steering Limits and Filters Out Noise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91056"/>
            <a:ext cx="3520440" cy="4535424"/>
          </a:xfrm>
          <a:prstGeom prst="rect">
            <a:avLst/>
          </a:prstGeom>
          <a:solidFill>
            <a:srgbClr val="FFFDE7"/>
          </a:solidFill>
          <a:ln w="15240">
            <a:solidFill>
              <a:srgbClr val="D6C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636776"/>
            <a:ext cx="3374136" cy="2560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Inter Display"/>
              </a:rPr>
              <a:t>1. Self-Teaching Steering Calibration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39696"/>
          <a:ext cx="1691640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</a:tblGrid>
              <a:tr h="58521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Inter Display"/>
                        </a:rPr>
                        <a:t>1. Sweep Right (+45%)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Inter"/>
                        </a:rPr>
                        <a:t>CAL_STATE_SWEEP_DIR_1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926080"/>
          <a:ext cx="1691640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</a:tblGrid>
              <a:tr h="58521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Inter Display"/>
                        </a:rPr>
                        <a:t>2. Back Off (-45%)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Inter"/>
                        </a:rPr>
                        <a:t>500 ms Gear Relief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712463"/>
          <a:ext cx="1691640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</a:tblGrid>
              <a:tr h="58521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Inter Display"/>
                        </a:rPr>
                        <a:t>3. Sweep Left (-45%)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Inter"/>
                        </a:rPr>
                        <a:t>CAL_STATE_SWEEP_DIR_2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4498848"/>
          <a:ext cx="1691640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</a:tblGrid>
              <a:tr h="58521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Inter Display"/>
                        </a:rPr>
                        <a:t>4. Compute Map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Inter"/>
                        </a:rPr>
                        <a:t>Center, Span &amp; Polarity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5285232"/>
          <a:ext cx="1691640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</a:tblGrid>
              <a:tr h="65836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47857"/>
                          </a:solidFill>
                          <a:latin typeface="Inter Display"/>
                        </a:rPr>
                        <a:t>5. Center &amp; Prime EKF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334155"/>
                          </a:solidFill>
                          <a:latin typeface="Inter"/>
                        </a:rPr>
                        <a:t>Within 30mV -&gt; ACTIVE</a:t>
                      </a:r>
                    </a:p>
                  </a:txBody>
                  <a:tcPr anchor="ctr" marL="54864" marR="54864" marT="27432" marB="27432">
                    <a:solidFill>
                      <a:srgbClr val="D1FAE5"/>
                    </a:solidFill>
                    <a:lnL w="12700" cap="flat" cmpd="sng" algn="ctr">
                      <a:solidFill>
                        <a:srgbClr val="34D399"/>
                      </a:solidFill>
                      <a:prstDash val="solid"/>
                    </a:lnL>
                    <a:lnR w="12700" cap="flat" cmpd="sng" algn="ctr">
                      <a:solidFill>
                        <a:srgbClr val="34D399"/>
                      </a:solidFill>
                      <a:prstDash val="solid"/>
                    </a:lnR>
                    <a:lnT w="12700" cap="flat" cmpd="sng" algn="ctr">
                      <a:solidFill>
                        <a:srgbClr val="34D399"/>
                      </a:solidFill>
                      <a:prstDash val="solid"/>
                    </a:lnT>
                    <a:lnB w="12700" cap="flat" cmpd="sng" algn="ctr">
                      <a:solidFill>
                        <a:srgbClr val="34D39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1471269" y="2724912"/>
            <a:ext cx="20116" cy="20116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1440180" y="2830068"/>
            <a:ext cx="82296" cy="82296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71269" y="3511296"/>
            <a:ext cx="20116" cy="201167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1440180" y="3616452"/>
            <a:ext cx="82296" cy="82296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71269" y="4297680"/>
            <a:ext cx="20116" cy="201167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1440180" y="4402836"/>
            <a:ext cx="82296" cy="82296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71269" y="5084064"/>
            <a:ext cx="20116" cy="20116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1440180" y="5189220"/>
            <a:ext cx="82296" cy="82296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450592" y="2139696"/>
          <a:ext cx="1444752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752"/>
              </a:tblGrid>
              <a:tr h="1389888">
                <a:tc>
                  <a:txBody>
                    <a:bodyPr wrap="square"/>
                    <a:lstStyle/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B45309"/>
                          </a:solidFill>
                          <a:latin typeface="Inter Display"/>
                        </a:rPr>
                        <a:t>Windowed Stall
Detection:</a:t>
                      </a:r>
                    </a:p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• 600ms startup grace.</a:t>
                      </a:r>
                    </a:p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• 100ms window checks
|ΔV| ≤ 5mV for 500ms.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47857"/>
                          </a:solidFill>
                          <a:latin typeface="Inter"/>
                        </a:rPr>
                        <a:t>• No physical switches!</a:t>
                      </a:r>
                    </a:p>
                  </a:txBody>
                  <a:tcPr anchor="ctr" marL="54864" marR="54864" marT="27432" marB="27432">
                    <a:solidFill>
                      <a:srgbClr val="FEF3C7"/>
                    </a:solidFill>
                    <a:lnL w="12700" cap="flat" cmpd="sng" algn="ctr">
                      <a:solidFill>
                        <a:srgbClr val="FBBF24"/>
                      </a:solidFill>
                      <a:prstDash val="solid"/>
                    </a:lnL>
                    <a:lnR w="12700" cap="flat" cmpd="sng" algn="ctr">
                      <a:solidFill>
                        <a:srgbClr val="FBBF24"/>
                      </a:solidFill>
                      <a:prstDash val="solid"/>
                    </a:lnR>
                    <a:lnT w="12700" cap="flat" cmpd="sng" algn="ctr">
                      <a:solidFill>
                        <a:srgbClr val="FBBF24"/>
                      </a:solidFill>
                      <a:prstDash val="solid"/>
                    </a:lnT>
                    <a:lnB w="12700" cap="flat" cmpd="sng" algn="ctr">
                      <a:solidFill>
                        <a:srgbClr val="FBBF2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450592" y="3694176"/>
          <a:ext cx="1444752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752"/>
              </a:tblGrid>
              <a:tr h="1408176">
                <a:tc>
                  <a:txBody>
                    <a:bodyPr wrap="square"/>
                    <a:lstStyle/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284C7"/>
                          </a:solidFill>
                          <a:latin typeface="Inter Display"/>
                        </a:rPr>
                        <a:t>Auto-Polarity
(Stops Runaway):</a:t>
                      </a:r>
                    </a:p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• If limit_1 &gt; limit_2:
polarity_sign = +1</a:t>
                      </a:r>
                    </a:p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• Else: sign = -1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284C7"/>
                          </a:solidFill>
                          <a:latin typeface="Inter"/>
                        </a:rPr>
                        <a:t>• Fixes reversed wires!</a:t>
                      </a:r>
                    </a:p>
                  </a:txBody>
                  <a:tcPr anchor="ctr" marL="54864" marR="54864" marT="27432" marB="27432">
                    <a:solidFill>
                      <a:srgbClr val="E0F2FE"/>
                    </a:solidFill>
                    <a:lnL w="12700" cap="flat" cmpd="sng" algn="ctr">
                      <a:solidFill>
                        <a:srgbClr val="38BDF8"/>
                      </a:solidFill>
                      <a:prstDash val="soli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450592" y="5230368"/>
          <a:ext cx="1444752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752"/>
              </a:tblGrid>
              <a:tr h="713232">
                <a:tc>
                  <a:txBody>
                    <a:bodyPr wrap="square"/>
                    <a:lstStyle/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1000" b="1">
                          <a:solidFill>
                            <a:srgbClr val="4F46E5"/>
                          </a:solidFill>
                          <a:latin typeface="Inter Display"/>
                        </a:rPr>
                        <a:t>On-Demand Reset: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Press Blue Button B1
(PC13) anytime.</a:t>
                      </a:r>
                    </a:p>
                  </a:txBody>
                  <a:tcPr anchor="ctr" marL="54864" marR="54864" marT="27432" marB="27432">
                    <a:solidFill>
                      <a:srgbClr val="E5E7EB"/>
                    </a:solidFill>
                    <a:lnL w="12700" cap="flat" cmpd="sng" algn="ctr">
                      <a:solidFill>
                        <a:srgbClr val="CBD5E1"/>
                      </a:solidFill>
                      <a:prstDash val="soli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4224528" y="1591056"/>
            <a:ext cx="3611880" cy="4535424"/>
          </a:xfrm>
          <a:prstGeom prst="rect">
            <a:avLst/>
          </a:prstGeom>
          <a:solidFill>
            <a:srgbClr val="F0F9FF"/>
          </a:solidFill>
          <a:ln w="15240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1636776"/>
            <a:ext cx="3465576" cy="2560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Inter Display"/>
              </a:rPr>
              <a:t>2. Noise Rejection &amp; Kalman Filter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389120" y="2139696"/>
          <a:ext cx="3273552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552"/>
              </a:tblGrid>
              <a:tr h="58521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Inter Display"/>
                        </a:rPr>
                        <a:t>Stage 1: 16-Bit ADC DMA Oversampling (PA0)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DMA1_Stream0 averages 64 raw samples (0–65535) every 10ms.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389120" y="2944368"/>
          <a:ext cx="3273552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552"/>
              </a:tblGrid>
              <a:tr h="58521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Inter Display"/>
                        </a:rPr>
                        <a:t>Stage 2: Exponential Moving Average (α = 0.20)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y_bar = 0.20*y_block + 0.80*y_prev  -&gt;  V_pot = (y_bar/65535)*3.3V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389120" y="3749039"/>
          <a:ext cx="1572768" cy="1042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</a:tblGrid>
              <a:tr h="1042415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284C7"/>
                          </a:solidFill>
                          <a:latin typeface="Inter Display"/>
                        </a:rPr>
                        <a:t>EKF Predict (100Hz)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x0 += x1 * 0.01s
x1 += ((u - x1)/τ)*0.01s
P = F*P*F' + Q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108192" y="3749039"/>
          <a:ext cx="1554480" cy="1042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</a:tblGrid>
              <a:tr h="1042415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47857"/>
                          </a:solidFill>
                          <a:latin typeface="Inter Display"/>
                        </a:rPr>
                        <a:t>EKF Update (Gain K)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y = z - x0
K = P*H'/(H*P*H' + R)
x += K*y (Zero Lag!)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6015837" y="2724912"/>
            <a:ext cx="20116" cy="219456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5984748" y="2848356"/>
            <a:ext cx="82296" cy="82296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15837" y="3529584"/>
            <a:ext cx="20116" cy="21945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5984748" y="3653028"/>
            <a:ext cx="82296" cy="82296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61888" y="4260189"/>
            <a:ext cx="146304" cy="20116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6016752" y="4233672"/>
            <a:ext cx="73152" cy="73152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389120" y="4956048"/>
          <a:ext cx="327355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552"/>
              </a:tblGrid>
              <a:tr h="1005840">
                <a:tc>
                  <a:txBody>
                    <a:bodyPr wrap="square"/>
                    <a:lstStyle/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284C7"/>
                          </a:solidFill>
                          <a:latin typeface="Inter Display"/>
                        </a:rPr>
                        <a:t>Plain English — Why Use a Kalman Filter?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Simple speed math ((V_now - V_last) / 0.01s) multiplies electrical noise by 100x,
making the steering motor buzz and jerk. The EKF predicts smooth, zero-lag velocity!</a:t>
                      </a:r>
                    </a:p>
                  </a:txBody>
                  <a:tcPr anchor="ctr" marL="73152" marR="73152" marT="27432" marB="27432">
                    <a:solidFill>
                      <a:srgbClr val="E0F2FE"/>
                    </a:solidFill>
                    <a:lnL w="12700" cap="flat" cmpd="sng" algn="ctr">
                      <a:solidFill>
                        <a:srgbClr val="38BDF8"/>
                      </a:solidFill>
                      <a:prstDash val="soli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8028431" y="1591056"/>
            <a:ext cx="3657600" cy="4535424"/>
          </a:xfrm>
          <a:prstGeom prst="rect">
            <a:avLst/>
          </a:prstGeom>
          <a:solidFill>
            <a:srgbClr val="F0FDF4"/>
          </a:solidFill>
          <a:ln w="1524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01583" y="1636776"/>
            <a:ext cx="3511296" cy="2560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Inter Display"/>
              </a:rPr>
              <a:t>3. Smooth PID &amp; Actuator Clamps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8183879" y="2139696"/>
          <a:ext cx="3346704" cy="859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6704"/>
              </a:tblGrid>
              <a:tr h="85953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Inter Display"/>
                        </a:rPr>
                        <a:t>Derivative-on-Measurement PID (pid.c)</a:t>
                      </a:r>
                    </a:p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00" b="1">
                          <a:solidFill>
                            <a:srgbClr val="4F46E5"/>
                          </a:solidFill>
                          <a:latin typeface="Inter"/>
                        </a:rPr>
                        <a:t>u(t) = 5.0 * e(t) + 1.0 * ∫e dt - 0.20 * y_dot_EKF(t)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Plain English: Damps using EKF speed so step targets never cause 'derivative kick'!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8183879" y="3163824"/>
          <a:ext cx="3346704" cy="859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6704"/>
              </a:tblGrid>
              <a:tr h="85953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100" b="1">
                          <a:solidFill>
                            <a:srgbClr val="B91C1C"/>
                          </a:solidFill>
                          <a:latin typeface="Inter Display"/>
                        </a:rPr>
                        <a:t>End-Stop Soft Clamps &amp; Current Protection</a:t>
                      </a:r>
                    </a:p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Inter"/>
                        </a:rPr>
                        <a:t>Within 40 mV of left/right limits, outward effort is clamped to 0.0f.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Plain English: Stops motor before hitting metal hardstops (blocks 15–30A+ burnout).</a:t>
                      </a:r>
                    </a:p>
                  </a:txBody>
                  <a:tcPr anchor="ctr" marL="54864" marR="54864" marT="27432" marB="27432">
                    <a:solidFill>
                      <a:srgbClr val="FFE4E6"/>
                    </a:solidFill>
                    <a:lnL w="12700" cap="flat" cmpd="sng" algn="ctr">
                      <a:solidFill>
                        <a:srgbClr val="FDA4AF"/>
                      </a:solidFill>
                      <a:prstDash val="solid"/>
                    </a:lnL>
                    <a:lnR w="12700" cap="flat" cmpd="sng" algn="ctr">
                      <a:solidFill>
                        <a:srgbClr val="FDA4AF"/>
                      </a:solidFill>
                      <a:prstDash val="solid"/>
                    </a:lnR>
                    <a:lnT w="12700" cap="flat" cmpd="sng" algn="ctr">
                      <a:solidFill>
                        <a:srgbClr val="FDA4AF"/>
                      </a:solidFill>
                      <a:prstDash val="solid"/>
                    </a:lnT>
                    <a:lnB w="12700" cap="flat" cmpd="sng" algn="ctr">
                      <a:solidFill>
                        <a:srgbClr val="FDA4A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8183879" y="4187952"/>
          <a:ext cx="3346704" cy="804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6704"/>
              </a:tblGrid>
              <a:tr h="804672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47857"/>
                          </a:solidFill>
                          <a:latin typeface="Inter Display"/>
                        </a:rPr>
                        <a:t>Steering Output: TIM3 PWM (PC6) + DIR (PD14)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550 Hz PWM capped at ±60% active duty (anti-windup ±0.25); 0% if link drops.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8183879" y="5102352"/>
          <a:ext cx="3346704" cy="859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6704"/>
              </a:tblGrid>
              <a:tr h="85953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B45309"/>
                          </a:solidFill>
                          <a:latin typeface="Inter Display"/>
                        </a:rPr>
                        <a:t>Traction &amp; Brake: Open-Loop 12-Bit DACs (PA4 / PA5)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0–4095 counts -&gt; pure 0.0–3.3V analog (no PID needed; EV controller regulates speed).</a:t>
                      </a:r>
                    </a:p>
                  </a:txBody>
                  <a:tcPr anchor="ctr" marL="54864" marR="54864" marT="27432" marB="27432">
                    <a:solidFill>
                      <a:srgbClr val="FEF3C7"/>
                    </a:solidFill>
                    <a:lnL w="12700" cap="flat" cmpd="sng" algn="ctr">
                      <a:solidFill>
                        <a:srgbClr val="FBBF24"/>
                      </a:solidFill>
                      <a:prstDash val="solid"/>
                    </a:lnL>
                    <a:lnR w="12700" cap="flat" cmpd="sng" algn="ctr">
                      <a:solidFill>
                        <a:srgbClr val="FBBF24"/>
                      </a:solidFill>
                      <a:prstDash val="solid"/>
                    </a:lnR>
                    <a:lnT w="12700" cap="flat" cmpd="sng" algn="ctr">
                      <a:solidFill>
                        <a:srgbClr val="FBBF24"/>
                      </a:solidFill>
                      <a:prstDash val="solid"/>
                    </a:lnT>
                    <a:lnB w="12700" cap="flat" cmpd="sng" algn="ctr">
                      <a:solidFill>
                        <a:srgbClr val="FBBF2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7662672" y="4258818"/>
            <a:ext cx="274319" cy="2286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25562" y="2569464"/>
            <a:ext cx="22860" cy="170078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36992" y="2558034"/>
            <a:ext cx="246887" cy="2286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Arrow 43"/>
          <p:cNvSpPr/>
          <p:nvPr/>
        </p:nvSpPr>
        <p:spPr>
          <a:xfrm>
            <a:off x="8074152" y="2523744"/>
            <a:ext cx="91440" cy="9144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847173" y="2999232"/>
            <a:ext cx="20116" cy="16459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own Arrow 45"/>
          <p:cNvSpPr/>
          <p:nvPr/>
        </p:nvSpPr>
        <p:spPr>
          <a:xfrm>
            <a:off x="9816084" y="3067812"/>
            <a:ext cx="82296" cy="82296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47173" y="4023360"/>
            <a:ext cx="20116" cy="164591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own Arrow 47"/>
          <p:cNvSpPr/>
          <p:nvPr/>
        </p:nvSpPr>
        <p:spPr>
          <a:xfrm>
            <a:off x="9816084" y="4091939"/>
            <a:ext cx="82296" cy="82296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5855" cy="11704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  <a:latin typeface="Inter"/>
              </a:rPr>
              <a:t>3. SUPERVISORY LOOP, SAFETY &amp; TESTING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100 Hz Execution Flowchart, Failsafes &amp; Quick-Start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91056"/>
            <a:ext cx="3703320" cy="4535424"/>
          </a:xfrm>
          <a:prstGeom prst="rect">
            <a:avLst/>
          </a:prstGeom>
          <a:solidFill>
            <a:srgbClr val="FFFDE7"/>
          </a:solidFill>
          <a:ln w="15240">
            <a:solidFill>
              <a:srgbClr val="D6C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636776"/>
            <a:ext cx="3557015" cy="2560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Inter Display"/>
              </a:rPr>
              <a:t>1. 100 Hz TIM6 Loop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2139696"/>
          <a:ext cx="3383280" cy="475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</a:tblGrid>
              <a:tr h="47548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Inter Display"/>
                        </a:rPr>
                        <a:t>TIM6_DAC_IRQHandler (10 ms) -&gt; App_Step_100Hz()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Check PC13 Button -&gt; Read DMA UART &amp; 16-Bit ADC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2834640"/>
          <a:ext cx="106070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</a:tblGrid>
              <a:tr h="10058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B45309"/>
                          </a:solidFill>
                          <a:latin typeface="Inter Display"/>
                        </a:rPr>
                        <a:t>CALIB (1)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Sweep ±45%
Lock Thr 0V
Green 5 Hz</a:t>
                      </a:r>
                    </a:p>
                  </a:txBody>
                  <a:tcPr anchor="ctr" marL="54864" marR="54864" marT="27432" marB="27432">
                    <a:solidFill>
                      <a:srgbClr val="FEF3C7"/>
                    </a:solidFill>
                    <a:lnL w="12700" cap="flat" cmpd="sng" algn="ctr">
                      <a:solidFill>
                        <a:srgbClr val="FBBF24"/>
                      </a:solidFill>
                      <a:prstDash val="solid"/>
                    </a:lnL>
                    <a:lnR w="12700" cap="flat" cmpd="sng" algn="ctr">
                      <a:solidFill>
                        <a:srgbClr val="FBBF24"/>
                      </a:solidFill>
                      <a:prstDash val="solid"/>
                    </a:lnR>
                    <a:lnT w="12700" cap="flat" cmpd="sng" algn="ctr">
                      <a:solidFill>
                        <a:srgbClr val="FBBF24"/>
                      </a:solidFill>
                      <a:prstDash val="solid"/>
                    </a:lnT>
                    <a:lnB w="12700" cap="flat" cmpd="sng" algn="ctr">
                      <a:solidFill>
                        <a:srgbClr val="FBBF2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19656" y="2834640"/>
          <a:ext cx="106070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</a:tblGrid>
              <a:tr h="10058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47857"/>
                          </a:solidFill>
                          <a:latin typeface="Inter Display"/>
                        </a:rPr>
                        <a:t>ACTIVE (2)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EKF + PID
DACs 0-3.3V
Green 1 Hz</a:t>
                      </a:r>
                    </a:p>
                  </a:txBody>
                  <a:tcPr anchor="ctr" marL="54864" marR="54864" marT="27432" marB="27432">
                    <a:solidFill>
                      <a:srgbClr val="D1FAE5"/>
                    </a:solidFill>
                    <a:lnL w="12700" cap="flat" cmpd="sng" algn="ctr">
                      <a:solidFill>
                        <a:srgbClr val="34D399"/>
                      </a:solidFill>
                      <a:prstDash val="solid"/>
                    </a:lnL>
                    <a:lnR w="12700" cap="flat" cmpd="sng" algn="ctr">
                      <a:solidFill>
                        <a:srgbClr val="34D399"/>
                      </a:solidFill>
                      <a:prstDash val="solid"/>
                    </a:lnR>
                    <a:lnT w="12700" cap="flat" cmpd="sng" algn="ctr">
                      <a:solidFill>
                        <a:srgbClr val="34D399"/>
                      </a:solidFill>
                      <a:prstDash val="solid"/>
                    </a:lnT>
                    <a:lnB w="12700" cap="flat" cmpd="sng" algn="ctr">
                      <a:solidFill>
                        <a:srgbClr val="34D39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80944" y="2834640"/>
          <a:ext cx="106070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</a:tblGrid>
              <a:tr h="10058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B91C1C"/>
                          </a:solidFill>
                          <a:latin typeface="Inter Display"/>
                        </a:rPr>
                        <a:t>FAULT (3)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Thr 0V, Steer 0%
Brake 3.3V
Red Blinks</a:t>
                      </a:r>
                    </a:p>
                  </a:txBody>
                  <a:tcPr anchor="ctr" marL="54864" marR="54864" marT="27432" marB="27432">
                    <a:solidFill>
                      <a:srgbClr val="FFE4E6"/>
                    </a:solidFill>
                    <a:lnL w="12700" cap="flat" cmpd="sng" algn="ctr">
                      <a:solidFill>
                        <a:srgbClr val="FDA4AF"/>
                      </a:solidFill>
                      <a:prstDash val="solid"/>
                    </a:lnL>
                    <a:lnR w="12700" cap="flat" cmpd="sng" algn="ctr">
                      <a:solidFill>
                        <a:srgbClr val="FDA4AF"/>
                      </a:solidFill>
                      <a:prstDash val="solid"/>
                    </a:lnR>
                    <a:lnT w="12700" cap="flat" cmpd="sng" algn="ctr">
                      <a:solidFill>
                        <a:srgbClr val="FDA4AF"/>
                      </a:solidFill>
                      <a:prstDash val="solid"/>
                    </a:lnT>
                    <a:lnB w="12700" cap="flat" cmpd="sng" algn="ctr">
                      <a:solidFill>
                        <a:srgbClr val="FDA4A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4023360"/>
          <a:ext cx="338328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</a:tblGrid>
              <a:tr h="621792">
                <a:tc>
                  <a:txBody>
                    <a:bodyPr wrap="square"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Inter Display"/>
                        </a:rPr>
                        <a:t>Update aev_live Struct (100 Hz) &amp; Traffic-Light LEDs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Every 2nd tick (50 Hz / 20ms): Broadcast 26B Binary Telemetry (0x81)</a:t>
                      </a:r>
                    </a:p>
                  </a:txBody>
                  <a:tcPr anchor="ctr" marL="54864" marR="54864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2339949" y="2615184"/>
            <a:ext cx="20116" cy="219456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2308860" y="2738628"/>
            <a:ext cx="82296" cy="82296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9949" y="3840480"/>
            <a:ext cx="20116" cy="18288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2308860" y="3927348"/>
            <a:ext cx="82296" cy="82296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58368" y="4754880"/>
          <a:ext cx="3383280" cy="1225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</a:tblGrid>
              <a:tr h="1225296">
                <a:tc>
                  <a:txBody>
                    <a:bodyPr wrap="square"/>
                    <a:lstStyle/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1000" b="1">
                          <a:solidFill>
                            <a:srgbClr val="4F46E5"/>
                          </a:solidFill>
                          <a:latin typeface="Inter Display"/>
                        </a:rPr>
                        <a:t>CubeIDE Live Watch (extern volatile VehicleLiveMonitor_t aev_live):</a:t>
                      </a:r>
                    </a:p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Inter"/>
                        </a:rPr>
                        <a:t>• command: </a:t>
                      </a: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drive_direction, steer_angle, acceleration, brake, estop</a:t>
                      </a:r>
                    </a:p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Inter"/>
                        </a:rPr>
                        <a:t>• steering &amp; drivetrain: </a:t>
                      </a: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target/actual deg, pot_v, effort, throttle/brake DAC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Inter"/>
                        </a:rPr>
                        <a:t>• calibration &amp; safety: </a:t>
                      </a: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center/limit_v, state, link_alive, watchdog_ms, error</a:t>
                      </a:r>
                    </a:p>
                  </a:txBody>
                  <a:tcPr anchor="ctr" marL="64008" marR="64008" marT="27432" marB="27432">
                    <a:solidFill>
                      <a:srgbClr val="E0F2FE"/>
                    </a:solidFill>
                    <a:lnL w="12700" cap="flat" cmpd="sng" algn="ctr">
                      <a:solidFill>
                        <a:srgbClr val="38BDF8"/>
                      </a:solidFill>
                      <a:prstDash val="soli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4370832" y="1591056"/>
            <a:ext cx="3858768" cy="4535424"/>
          </a:xfrm>
          <a:prstGeom prst="rect">
            <a:avLst/>
          </a:prstGeom>
          <a:solidFill>
            <a:srgbClr val="FFF1F2"/>
          </a:solidFill>
          <a:ln w="15240">
            <a:solidFill>
              <a:srgbClr val="FDA4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1636776"/>
            <a:ext cx="3712463" cy="2560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Inter Display"/>
              </a:rPr>
              <a:t>2. Safety Matrix &amp; LED Codes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17136" y="2139696"/>
          <a:ext cx="3566160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</a:tblGrid>
              <a:tr h="1773936">
                <a:tc>
                  <a:txBody>
                    <a:bodyPr wrap="square"/>
                    <a:lstStyle/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B91C1C"/>
                          </a:solidFill>
                          <a:latin typeface="Inter Display"/>
                        </a:rPr>
                        <a:t>8 Automatic Hardware &amp; Software Safety Layers:</a:t>
                      </a:r>
                    </a:p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Inter"/>
                        </a:rPr>
                        <a:t>L1 Boot Safe (0ms): </a:t>
                      </a: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DACs 0V, PWM 0%, DIR low on startup.</a:t>
                      </a:r>
                    </a:p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Inter"/>
                        </a:rPr>
                        <a:t>L2 Watchdog (≤200ms): </a:t>
                      </a: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Packet loss -&gt; 0V thr, 1.65V brake, 0 steer.</a:t>
                      </a:r>
                    </a:p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Inter"/>
                        </a:rPr>
                        <a:t>L3 E-Stop (≤10ms): </a:t>
                      </a: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estop != 0 latches 3.3V emergency brake &amp; 0V thr.</a:t>
                      </a:r>
                    </a:p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Inter"/>
                        </a:rPr>
                        <a:t>L4 Pot Bounds (≤10ms): </a:t>
                      </a: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&lt;0.15V or &gt;3.15V (broken wire) disables drive.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Inter"/>
                        </a:rPr>
                        <a:t>L5–L8 Motor Guards: </a:t>
                      </a: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40mV stop clamp, ±1 auto-polarity, ±60% cap, 10s timeout.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  <a:lnL w="12700" cap="flat" cmpd="sng" algn="ctr">
                      <a:solidFill>
                        <a:srgbClr val="FDA4AF"/>
                      </a:solidFill>
                      <a:prstDash val="solid"/>
                    </a:lnL>
                    <a:lnR w="12700" cap="flat" cmpd="sng" algn="ctr">
                      <a:solidFill>
                        <a:srgbClr val="FDA4AF"/>
                      </a:solidFill>
                      <a:prstDash val="solid"/>
                    </a:lnR>
                    <a:lnT w="12700" cap="flat" cmpd="sng" algn="ctr">
                      <a:solidFill>
                        <a:srgbClr val="FDA4AF"/>
                      </a:solidFill>
                      <a:prstDash val="solid"/>
                    </a:lnT>
                    <a:lnB w="12700" cap="flat" cmpd="sng" algn="ctr">
                      <a:solidFill>
                        <a:srgbClr val="FDA4A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17136" y="4023360"/>
          <a:ext cx="3566160" cy="1956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</a:tblGrid>
              <a:tr h="1956816">
                <a:tc>
                  <a:txBody>
                    <a:bodyPr wrap="square"/>
                    <a:lstStyle/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47857"/>
                          </a:solidFill>
                          <a:latin typeface="Inter Display"/>
                        </a:rPr>
                        <a:t>Traffic-Light LEDs (PB0, PE1, PB14) — Non-Blocking 100 Hz:</a:t>
                      </a:r>
                    </a:p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950" b="1">
                          <a:solidFill>
                            <a:srgbClr val="047857"/>
                          </a:solidFill>
                          <a:latin typeface="Inter"/>
                        </a:rPr>
                        <a:t>Green LD1 (PB0): </a:t>
                      </a: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5 Hz flash = Calibrating (stay clear); 1 Hz = Active.</a:t>
                      </a:r>
                    </a:p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950" b="1">
                          <a:solidFill>
                            <a:srgbClr val="B45309"/>
                          </a:solidFill>
                          <a:latin typeface="Inter"/>
                        </a:rPr>
                        <a:t>Yellow LD2 (PE1): </a:t>
                      </a: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10 Hz flash = Link alive (≤200ms); 1s burst = 1 packet.</a:t>
                      </a:r>
                    </a:p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950" b="1">
                          <a:solidFill>
                            <a:srgbClr val="B91C1C"/>
                          </a:solidFill>
                          <a:latin typeface="Inter"/>
                        </a:rPr>
                        <a:t>Red LD3 (PB14) Diagnostic Blink Codes (200ms pulse + 1.2s pause):</a:t>
                      </a:r>
                    </a:p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950" b="1">
                          <a:solidFill>
                            <a:srgbClr val="0F172A"/>
                          </a:solidFill>
                          <a:latin typeface="Inter"/>
                        </a:rPr>
                        <a:t>  1 Blink = </a:t>
                      </a: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COMM_TIMEOUT  |  </a:t>
                      </a:r>
                      <a:r>
                        <a:rPr sz="950" b="1">
                          <a:solidFill>
                            <a:srgbClr val="0F172A"/>
                          </a:solidFill>
                          <a:latin typeface="Inter"/>
                        </a:rPr>
                        <a:t>2 Blinks = </a:t>
                      </a: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CALIBRATION_FAIL</a:t>
                      </a:r>
                    </a:p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Inter"/>
                        </a:rPr>
                        <a:t>  3 Blinks = </a:t>
                      </a: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SENSOR_BOUNDS  |  </a:t>
                      </a:r>
                      <a:r>
                        <a:rPr sz="950" b="1">
                          <a:solidFill>
                            <a:srgbClr val="0F172A"/>
                          </a:solidFill>
                          <a:latin typeface="Inter"/>
                        </a:rPr>
                        <a:t>4 Blinks = </a:t>
                      </a: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ESTOP  |  </a:t>
                      </a:r>
                      <a:r>
                        <a:rPr sz="950" b="1">
                          <a:solidFill>
                            <a:srgbClr val="B91C1C"/>
                          </a:solidFill>
                          <a:latin typeface="Inter"/>
                        </a:rPr>
                        <a:t>Solid = </a:t>
                      </a: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FATAL</a:t>
                      </a:r>
                    </a:p>
                  </a:txBody>
                  <a:tcPr anchor="ctr" marL="64008" marR="64008" marT="27432" marB="27432">
                    <a:solidFill>
                      <a:srgbClr val="FEF3C7"/>
                    </a:solidFill>
                    <a:lnL w="12700" cap="flat" cmpd="sng" algn="ctr">
                      <a:solidFill>
                        <a:srgbClr val="FBBF24"/>
                      </a:solidFill>
                      <a:prstDash val="solid"/>
                    </a:lnL>
                    <a:lnR w="12700" cap="flat" cmpd="sng" algn="ctr">
                      <a:solidFill>
                        <a:srgbClr val="FBBF24"/>
                      </a:solidFill>
                      <a:prstDash val="solid"/>
                    </a:lnR>
                    <a:lnT w="12700" cap="flat" cmpd="sng" algn="ctr">
                      <a:solidFill>
                        <a:srgbClr val="FBBF24"/>
                      </a:solidFill>
                      <a:prstDash val="solid"/>
                    </a:lnT>
                    <a:lnB w="12700" cap="flat" cmpd="sng" algn="ctr">
                      <a:solidFill>
                        <a:srgbClr val="FBBF2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8394192" y="1591056"/>
            <a:ext cx="3291840" cy="4535424"/>
          </a:xfrm>
          <a:prstGeom prst="rect">
            <a:avLst/>
          </a:prstGeom>
          <a:solidFill>
            <a:srgbClr val="F0F9FF"/>
          </a:solidFill>
          <a:ln w="15240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7344" y="1636776"/>
            <a:ext cx="3145536" cy="2560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Inter Display"/>
              </a:rPr>
              <a:t>3. Quick-Start &amp; Porting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540496" y="2139696"/>
          <a:ext cx="2999232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9232"/>
              </a:tblGrid>
              <a:tr h="768096">
                <a:tc>
                  <a:txBody>
                    <a:bodyPr wrap="square"/>
                    <a:lstStyle/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284C7"/>
                          </a:solidFill>
                          <a:latin typeface="Inter Display"/>
                        </a:rPr>
                        <a:t>Step 1: Build &amp; Flash Firmware</a:t>
                      </a:r>
                    </a:p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• CubeIDE: Select project &amp; press Ctrl+B.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• CLI: cd Debug &amp;&amp; make -j8 all</a:t>
                      </a:r>
                    </a:p>
                  </a:txBody>
                  <a:tcPr anchor="ctr" marL="64008" marR="64008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8540496" y="3072384"/>
          <a:ext cx="2999232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9232"/>
              </a:tblGrid>
              <a:tr h="950976">
                <a:tc>
                  <a:txBody>
                    <a:bodyPr wrap="square"/>
                    <a:lstStyle/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047857"/>
                          </a:solidFill>
                          <a:latin typeface="Inter Display"/>
                        </a:rPr>
                        <a:t>Step 2: Launch Python Ground GUI</a:t>
                      </a:r>
                    </a:p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• Run: python App\Testing\aev_diagnostic_gui.py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• Connect ST-Link COM (115200 8N1), click
  Start 50 Hz Streaming, drag Steer/Throttle.</a:t>
                      </a:r>
                    </a:p>
                  </a:txBody>
                  <a:tcPr anchor="ctr" marL="64008" marR="64008" marT="27432" marB="27432">
                    <a:solidFill>
                      <a:srgbClr val="D1FAE5"/>
                    </a:solidFill>
                    <a:lnL w="12700" cap="flat" cmpd="sng" algn="ctr">
                      <a:solidFill>
                        <a:srgbClr val="34D399"/>
                      </a:solidFill>
                      <a:prstDash val="solid"/>
                    </a:lnL>
                    <a:lnR w="12700" cap="flat" cmpd="sng" algn="ctr">
                      <a:solidFill>
                        <a:srgbClr val="34D399"/>
                      </a:solidFill>
                      <a:prstDash val="solid"/>
                    </a:lnR>
                    <a:lnT w="12700" cap="flat" cmpd="sng" algn="ctr">
                      <a:solidFill>
                        <a:srgbClr val="34D399"/>
                      </a:solidFill>
                      <a:prstDash val="solid"/>
                    </a:lnT>
                    <a:lnB w="12700" cap="flat" cmpd="sng" algn="ctr">
                      <a:solidFill>
                        <a:srgbClr val="34D39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540496" y="4197096"/>
          <a:ext cx="2999232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9232"/>
              </a:tblGrid>
              <a:tr h="932688">
                <a:tc>
                  <a:txBody>
                    <a:bodyPr wrap="square"/>
                    <a:lstStyle/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1050" b="1">
                          <a:solidFill>
                            <a:srgbClr val="4F46E5"/>
                          </a:solidFill>
                          <a:latin typeface="Inter Display"/>
                        </a:rPr>
                        <a:t>Step 3: HTerm Raw HEX Verification</a:t>
                      </a:r>
                    </a:p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• Neutral: AA55 0101 ... 4E83 55AA</a:t>
                      </a:r>
                    </a:p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• +10°/15%: AA55 0102 ... 59A2 55AA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• E-Stop: AA55 0103 ... 1C52 55AA</a:t>
                      </a:r>
                    </a:p>
                  </a:txBody>
                  <a:tcPr anchor="ctr" marL="64008" marR="64008" marT="27432" marB="27432">
                    <a:solidFill>
                      <a:srgbClr val="ECE9FE"/>
                    </a:solidFill>
                    <a:lnL w="12700" cap="flat" cmpd="sng" algn="ctr">
                      <a:solidFill>
                        <a:srgbClr val="9B8AFB"/>
                      </a:solidFill>
                      <a:prstDash val="solid"/>
                    </a:lnL>
                    <a:lnR w="12700" cap="flat" cmpd="sng" algn="ctr">
                      <a:solidFill>
                        <a:srgbClr val="9B8AFB"/>
                      </a:solidFill>
                      <a:prstDash val="solid"/>
                    </a:lnR>
                    <a:lnT w="12700" cap="flat" cmpd="sng" algn="ctr">
                      <a:solidFill>
                        <a:srgbClr val="9B8AFB"/>
                      </a:solidFill>
                      <a:prstDash val="solid"/>
                    </a:lnT>
                    <a:lnB w="12700" cap="flat" cmpd="sng" algn="ctr">
                      <a:solidFill>
                        <a:srgbClr val="9B8AF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540496" y="5230368"/>
          <a:ext cx="2999232" cy="749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9232"/>
              </a:tblGrid>
              <a:tr h="749808">
                <a:tc>
                  <a:txBody>
                    <a:bodyPr wrap="square"/>
                    <a:lstStyle/>
                    <a:p>
                      <a:pPr algn="l">
                        <a:spcAft>
                          <a:spcPts val="150"/>
                        </a:spcAft>
                      </a:pPr>
                      <a:r>
                        <a:rPr sz="1000" b="1">
                          <a:solidFill>
                            <a:srgbClr val="B45309"/>
                          </a:solidFill>
                          <a:latin typeface="Inter Display"/>
                        </a:rPr>
                        <a:t>Porting UART (protocol.c):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Inter"/>
                        </a:rPr>
                        <a:t>Enable USARTx Circular DMA in CubeMX .ioc
&amp; set #define COMM_UART huartX.</a:t>
                      </a:r>
                    </a:p>
                  </a:txBody>
                  <a:tcPr anchor="ctr" marL="64008" marR="64008" marT="27432" marB="27432">
                    <a:solidFill>
                      <a:srgbClr val="FEF3C7"/>
                    </a:solidFill>
                    <a:lnL w="12700" cap="flat" cmpd="sng" algn="ctr">
                      <a:solidFill>
                        <a:srgbClr val="FBBF24"/>
                      </a:solidFill>
                      <a:prstDash val="solid"/>
                    </a:lnL>
                    <a:lnR w="12700" cap="flat" cmpd="sng" algn="ctr">
                      <a:solidFill>
                        <a:srgbClr val="FBBF24"/>
                      </a:solidFill>
                      <a:prstDash val="solid"/>
                    </a:lnR>
                    <a:lnT w="12700" cap="flat" cmpd="sng" algn="ctr">
                      <a:solidFill>
                        <a:srgbClr val="FBBF24"/>
                      </a:solidFill>
                      <a:prstDash val="solid"/>
                    </a:lnT>
                    <a:lnB w="12700" cap="flat" cmpd="sng" algn="ctr">
                      <a:solidFill>
                        <a:srgbClr val="FBBF2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10030053" y="2907792"/>
            <a:ext cx="20116" cy="164591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9998964" y="2985516"/>
            <a:ext cx="82296" cy="82296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30053" y="4023360"/>
            <a:ext cx="20116" cy="17373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9998964" y="4110228"/>
            <a:ext cx="82296" cy="82296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